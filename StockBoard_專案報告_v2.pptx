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3716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1A73E8"/>
                </a:solidFill>
                <a:latin typeface="Microsoft JhengHei"/>
              </a:defRPr>
            </a:pPr>
            <a:r>
              <a:t>StockBoard 股票交易論壇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4688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1C1E21"/>
                </a:solidFill>
                <a:latin typeface="Microsoft JhengHei"/>
              </a:defRPr>
            </a:pPr>
            <a:r>
              <a:t>全端開發實戰報告</a:t>
            </a:r>
          </a:p>
        </p:txBody>
      </p:sp>
      <p:sp>
        <p:nvSpPr>
          <p:cNvPr id="7" name="Rectangle 6"/>
          <p:cNvSpPr/>
          <p:nvPr/>
        </p:nvSpPr>
        <p:spPr>
          <a:xfrm>
            <a:off x="1097280" y="3383280"/>
            <a:ext cx="2743200" cy="36576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365760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65676B"/>
                </a:solidFill>
                <a:latin typeface="Microsoft JhengHei"/>
              </a:defRPr>
            </a:pPr>
            <a:r>
              <a:t>技術堆疊：FastAPI + SQLAlchemy + Vanilla JS + Chart.js</a:t>
            </a:r>
          </a:p>
          <a:p>
            <a:pPr>
              <a:spcAft>
                <a:spcPts val="800"/>
              </a:spcAft>
              <a:defRPr sz="1600" b="0">
                <a:solidFill>
                  <a:srgbClr val="65676B"/>
                </a:solidFill>
                <a:latin typeface="Microsoft JhengHei"/>
              </a:defRPr>
            </a:pPr>
            <a:r>
              <a:t>部署平台：Render.com (PostgreSQL)</a:t>
            </a:r>
          </a:p>
          <a:p>
            <a:pPr>
              <a:spcAft>
                <a:spcPts val="800"/>
              </a:spcAft>
              <a:defRPr sz="1600" b="0">
                <a:solidFill>
                  <a:srgbClr val="65676B"/>
                </a:solidFill>
                <a:latin typeface="Microsoft JhengHei"/>
              </a:defRPr>
            </a:pPr>
            <a:r>
              <a:t>專案性質：股票討論、查詢、交易紀錄一平台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97280" y="5303520"/>
            <a:ext cx="1554480" cy="457200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A73E8"/>
                </a:solidFill>
                <a:latin typeface="Microsoft JhengHei"/>
              </a:defRPr>
            </a:pPr>
            <a:r>
              <a:t>FastAPI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26080" y="5303520"/>
            <a:ext cx="1554480" cy="457200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A73E8"/>
                </a:solidFill>
                <a:latin typeface="Microsoft JhengHei"/>
              </a:defRPr>
            </a:pPr>
            <a:r>
              <a:t>SQLAlchemy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54880" y="5303520"/>
            <a:ext cx="1554480" cy="457200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A73E8"/>
                </a:solidFill>
                <a:latin typeface="Microsoft JhengHei"/>
              </a:defRPr>
            </a:pPr>
            <a:r>
              <a:t>yfinance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0" y="5303520"/>
            <a:ext cx="1554480" cy="457200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A73E8"/>
                </a:solidFill>
                <a:latin typeface="Microsoft JhengHei"/>
              </a:defRPr>
            </a:pPr>
            <a:r>
              <a:t>Chart.js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412480" y="5303520"/>
            <a:ext cx="1554480" cy="457200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A73E8"/>
                </a:solidFill>
                <a:latin typeface="Microsoft JhengHei"/>
              </a:defRPr>
            </a:pPr>
            <a:r>
              <a:t>SQLite / PostgreSQL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241280" y="5303520"/>
            <a:ext cx="1554480" cy="457200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A73E8"/>
                </a:solidFill>
                <a:latin typeface="Microsoft JhengHei"/>
              </a:defRPr>
            </a:pPr>
            <a:r>
              <a:t>bcrypt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5676B"/>
                </a:solidFill>
                <a:latin typeface="Microsoft JhengHei"/>
              </a:defRPr>
            </a:pPr>
            <a:r>
              <a:t>1/14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54864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73E8"/>
                </a:solidFill>
                <a:latin typeface="Microsoft JhengHei"/>
              </a:defRPr>
            </a:pPr>
            <a:r>
              <a:t>目 錄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234440"/>
            <a:ext cx="1828800" cy="36576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73E8"/>
                </a:solidFill>
                <a:latin typeface="Microsoft JhengHei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164592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C1E21"/>
                </a:solidFill>
                <a:latin typeface="Microsoft JhengHei"/>
              </a:defRPr>
            </a:pPr>
            <a:r>
              <a:t>專案概述與動機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42316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73E8"/>
                </a:solidFill>
                <a:latin typeface="Microsoft JhengHei"/>
              </a:defRPr>
            </a:pPr>
            <a: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242316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C1E21"/>
                </a:solidFill>
                <a:latin typeface="Microsoft JhengHei"/>
              </a:defRPr>
            </a:pPr>
            <a:r>
              <a:t>系統架構設計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2004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73E8"/>
                </a:solidFill>
                <a:latin typeface="Microsoft JhengHei"/>
              </a:defRPr>
            </a:pPr>
            <a: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32004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C1E21"/>
                </a:solidFill>
                <a:latin typeface="Microsoft JhengHei"/>
              </a:defRPr>
            </a:pPr>
            <a:r>
              <a:t>資料庫設計 (ERD)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977639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73E8"/>
                </a:solidFill>
                <a:latin typeface="Microsoft JhengHei"/>
              </a:defRPr>
            </a:pPr>
            <a:r>
              <a:t>04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3977639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C1E21"/>
                </a:solidFill>
                <a:latin typeface="Microsoft JhengHei"/>
              </a:defRPr>
            </a:pPr>
            <a:r>
              <a:t>後端 API 設計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7548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73E8"/>
                </a:solidFill>
                <a:latin typeface="Microsoft JhengHei"/>
              </a:defRPr>
            </a:pPr>
            <a:r>
              <a:t>05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47548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C1E21"/>
                </a:solidFill>
                <a:latin typeface="Microsoft JhengHei"/>
              </a:defRPr>
            </a:pPr>
            <a:r>
              <a:t>前端 UI/UX 設計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5321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73E8"/>
                </a:solidFill>
                <a:latin typeface="Microsoft JhengHei"/>
              </a:defRPr>
            </a:pPr>
            <a:r>
              <a:t>06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553212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C1E21"/>
                </a:solidFill>
                <a:latin typeface="Microsoft JhengHei"/>
              </a:defRPr>
            </a:pPr>
            <a:r>
              <a:t>核心功能展示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16459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73E8"/>
                </a:solidFill>
                <a:latin typeface="Microsoft JhengHei"/>
              </a:defRPr>
            </a:pPr>
            <a:r>
              <a:t>07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0" y="164592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C1E21"/>
                </a:solidFill>
                <a:latin typeface="Microsoft JhengHei"/>
              </a:defRPr>
            </a:pPr>
            <a:r>
              <a:t>技術亮點與創新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242316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73E8"/>
                </a:solidFill>
                <a:latin typeface="Microsoft JhengHei"/>
              </a:defRPr>
            </a:pPr>
            <a:r>
              <a:t>08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0" y="242316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C1E21"/>
                </a:solidFill>
                <a:latin typeface="Microsoft JhengHei"/>
              </a:defRPr>
            </a:pPr>
            <a:r>
              <a:t>部署與維運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32004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73E8"/>
                </a:solidFill>
                <a:latin typeface="Microsoft JhengHei"/>
              </a:defRPr>
            </a:pPr>
            <a:r>
              <a:t>09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0" y="32004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C1E21"/>
                </a:solidFill>
                <a:latin typeface="Microsoft JhengHei"/>
              </a:defRPr>
            </a:pPr>
            <a:r>
              <a:t>安全性分析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0" y="3977639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73E8"/>
                </a:solidFill>
                <a:latin typeface="Microsoft JhengHei"/>
              </a:defRPr>
            </a:pPr>
            <a:r>
              <a:t>10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0" y="3977639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C1E21"/>
                </a:solidFill>
                <a:latin typeface="Microsoft JhengHei"/>
              </a:defRPr>
            </a:pPr>
            <a:r>
              <a:t>遇到的挑戰與解法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7920" y="47548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73E8"/>
                </a:solidFill>
                <a:latin typeface="Microsoft JhengHei"/>
              </a:defRPr>
            </a:pPr>
            <a:r>
              <a:t>11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0" y="47548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C1E21"/>
                </a:solidFill>
                <a:latin typeface="Microsoft JhengHei"/>
              </a:defRPr>
            </a:pPr>
            <a:r>
              <a:t>未來改進方向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0" y="55321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73E8"/>
                </a:solidFill>
                <a:latin typeface="Microsoft JhengHei"/>
              </a:defRPr>
            </a:pPr>
            <a:r>
              <a:t>12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0" y="553212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C1E21"/>
                </a:solidFill>
                <a:latin typeface="Microsoft JhengHei"/>
              </a:defRPr>
            </a:pPr>
            <a:r>
              <a:t>總結與心得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5676B"/>
                </a:solidFill>
                <a:latin typeface="Microsoft JhengHei"/>
              </a:defRPr>
            </a:pPr>
            <a:r>
              <a:t>2/14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73E8"/>
                </a:solidFill>
                <a:latin typeface="Microsoft JhengHei"/>
              </a:defRPr>
            </a:pPr>
            <a:r>
              <a:t>01  專案概述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051560"/>
            <a:ext cx="2286000" cy="36576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400" y="1463040"/>
            <a:ext cx="5029200" cy="2286000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182880" wrap="square"/>
          <a:lstStyle/>
          <a:p>
            <a:pPr algn="ctr">
              <a:defRPr sz="2000" b="1">
                <a:solidFill>
                  <a:srgbClr val="1A73E8"/>
                </a:solidFill>
                <a:latin typeface="Microsoft JhengHei"/>
              </a:defRPr>
            </a:pPr>
            <a:r>
              <a:t>專案目標</a:t>
            </a:r>
          </a:p>
          <a:p>
            <a:pPr>
              <a:spcBef>
                <a:spcPts val="800"/>
              </a:spcBef>
              <a:defRPr sz="1400">
                <a:solidFill>
                  <a:srgbClr val="1C1E21"/>
                </a:solidFill>
                <a:latin typeface="Microsoft JhengHei"/>
              </a:defRPr>
            </a:pPr>
            <a:r>
              <a:t>▸ 打造一個整合股票討論、即時查詢、交易紀錄的全端平台</a:t>
            </a:r>
          </a:p>
          <a:p>
            <a:pPr>
              <a:spcBef>
                <a:spcPts val="800"/>
              </a:spcBef>
              <a:defRPr sz="1400">
                <a:solidFill>
                  <a:srgbClr val="1C1E21"/>
                </a:solidFill>
                <a:latin typeface="Microsoft JhengHei"/>
              </a:defRPr>
            </a:pPr>
            <a:r>
              <a:t>▸ 讓投資者可以交流投資心得、追蹤股價走勢、記錄交易歷史</a:t>
            </a:r>
          </a:p>
          <a:p>
            <a:pPr>
              <a:spcBef>
                <a:spcPts val="800"/>
              </a:spcBef>
              <a:defRPr sz="1400">
                <a:solidFill>
                  <a:srgbClr val="1C1E21"/>
                </a:solidFill>
                <a:latin typeface="Microsoft JhengHei"/>
              </a:defRPr>
            </a:pPr>
            <a:r>
              <a:t>▸ 實現前後端分離架構，具備良好的擴展性與部署能力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463040"/>
            <a:ext cx="5029200" cy="228600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182880" wrap="square"/>
          <a:lstStyle/>
          <a:p>
            <a:pPr algn="ctr">
              <a:defRPr sz="2000" b="1">
                <a:solidFill>
                  <a:srgbClr val="1B9E4B"/>
                </a:solidFill>
                <a:latin typeface="Microsoft JhengHei"/>
              </a:defRPr>
            </a:pPr>
            <a:r>
              <a:t>核心特色</a:t>
            </a:r>
          </a:p>
          <a:p>
            <a:pPr>
              <a:spcBef>
                <a:spcPts val="800"/>
              </a:spcBef>
              <a:defRPr sz="1400">
                <a:solidFill>
                  <a:srgbClr val="1C1E21"/>
                </a:solidFill>
                <a:latin typeface="Microsoft JhengHei"/>
              </a:defRPr>
            </a:pPr>
            <a:r>
              <a:t>▸ 社群討論板：分類看板、發文、留言互動</a:t>
            </a:r>
          </a:p>
          <a:p>
            <a:pPr>
              <a:spcBef>
                <a:spcPts val="800"/>
              </a:spcBef>
              <a:defRPr sz="1400">
                <a:solidFill>
                  <a:srgbClr val="1C1E21"/>
                </a:solidFill>
                <a:latin typeface="Microsoft JhengHei"/>
              </a:defRPr>
            </a:pPr>
            <a:r>
              <a:t>▸ 股票即時查詢：串接 yfinance API，圖表化呈現</a:t>
            </a:r>
          </a:p>
          <a:p>
            <a:pPr>
              <a:spcBef>
                <a:spcPts val="800"/>
              </a:spcBef>
              <a:defRPr sz="1400">
                <a:solidFill>
                  <a:srgbClr val="1C1E21"/>
                </a:solidFill>
                <a:latin typeface="Microsoft JhengHei"/>
              </a:defRPr>
            </a:pPr>
            <a:r>
              <a:t>▸ 交易紀錄管理：買入/賣出記錄、歷史查詢</a:t>
            </a:r>
          </a:p>
          <a:p>
            <a:pPr>
              <a:spcBef>
                <a:spcPts val="800"/>
              </a:spcBef>
              <a:defRPr sz="1400">
                <a:solidFill>
                  <a:srgbClr val="1C1E21"/>
                </a:solidFill>
                <a:latin typeface="Microsoft JhengHei"/>
              </a:defRPr>
            </a:pPr>
            <a:r>
              <a:t>▸ 使用者個人檔案：文章統計、追蹤功能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1148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C1E21"/>
                </a:solidFill>
                <a:latin typeface="Microsoft JhengHei"/>
              </a:defRPr>
            </a:pPr>
            <a:r>
              <a:t>技術堆疊總覽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4663440"/>
            <a:ext cx="1097280" cy="384048"/>
          </a:xfrm>
          <a:prstGeom prst="round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663440"/>
            <a:ext cx="1097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icrosoft JhengHei"/>
              </a:defRPr>
            </a:pPr>
            <a:r>
              <a:t>後端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4560" y="4663440"/>
            <a:ext cx="9144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C1E21"/>
                </a:solidFill>
                <a:latin typeface="Microsoft JhengHei"/>
              </a:defRPr>
            </a:pPr>
            <a:r>
              <a:t>FastAPI (Python)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5166359"/>
            <a:ext cx="1097280" cy="384048"/>
          </a:xfrm>
          <a:prstGeom prst="roundRect">
            <a:avLst/>
          </a:prstGeom>
          <a:solidFill>
            <a:srgbClr val="1B9E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5166359"/>
            <a:ext cx="1097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icrosoft JhengHei"/>
              </a:defRPr>
            </a:pPr>
            <a:r>
              <a:t>資料庫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94560" y="5166359"/>
            <a:ext cx="9144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C1E21"/>
                </a:solidFill>
                <a:latin typeface="Microsoft JhengHei"/>
              </a:defRPr>
            </a:pPr>
            <a:r>
              <a:t>SQLite (dev) / PostgreSQL (prod)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5669279"/>
            <a:ext cx="1097280" cy="384048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5669279"/>
            <a:ext cx="1097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icrosoft JhengHei"/>
              </a:defRPr>
            </a:pPr>
            <a:r>
              <a:t>前端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94560" y="5669279"/>
            <a:ext cx="9144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C1E21"/>
                </a:solidFill>
                <a:latin typeface="Microsoft JhengHei"/>
              </a:defRPr>
            </a:pPr>
            <a:r>
              <a:t>Vanilla HTML/CSS/JS + Chart.js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" y="6172200"/>
            <a:ext cx="1097280" cy="384048"/>
          </a:xfrm>
          <a:prstGeom prst="roundRect">
            <a:avLst/>
          </a:prstGeom>
          <a:solidFill>
            <a:srgbClr val="FF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6172200"/>
            <a:ext cx="1097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icrosoft JhengHei"/>
              </a:defRPr>
            </a:pPr>
            <a:r>
              <a:t>部署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94560" y="6172200"/>
            <a:ext cx="9144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C1E21"/>
                </a:solidFill>
                <a:latin typeface="Microsoft JhengHei"/>
              </a:defRPr>
            </a:pPr>
            <a:r>
              <a:t>Render.com (免費層級)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5676B"/>
                </a:solidFill>
                <a:latin typeface="Microsoft JhengHei"/>
              </a:defRPr>
            </a:pPr>
            <a:r>
              <a:t>3/14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73E8"/>
                </a:solidFill>
                <a:latin typeface="Microsoft JhengHei"/>
              </a:defRPr>
            </a:pPr>
            <a:r>
              <a:t>02  系統架構設計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051560"/>
            <a:ext cx="2286000" cy="36576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400" y="1554480"/>
            <a:ext cx="2560320" cy="1280160"/>
          </a:xfrm>
          <a:prstGeom prst="round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228600"/>
          <a:lstStyle/>
          <a:p>
            <a:pPr algn="ctr">
              <a:defRPr sz="1500" b="1">
                <a:solidFill>
                  <a:srgbClr val="FFFFFF"/>
                </a:solidFill>
                <a:latin typeface="Microsoft JhengHei"/>
              </a:defRPr>
            </a:pPr>
            <a:r>
              <a:t>前端層 (Frontend)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0240" y="288036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A73E8"/>
                </a:solidFill>
                <a:latin typeface="Microsoft JhengHei"/>
              </a:defRPr>
            </a:pPr>
            <a:r>
              <a:t>▼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0" y="1554480"/>
            <a:ext cx="6858000" cy="1280160"/>
          </a:xfrm>
          <a:prstGeom prst="round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l">
              <a:defRPr sz="1300" b="0">
                <a:solidFill>
                  <a:srgbClr val="1C1E21"/>
                </a:solidFill>
                <a:latin typeface="Microsoft JhengHei"/>
              </a:defRPr>
            </a:pPr>
            <a:r>
              <a:t>HTML5 + CSS3 + Vanilla JavaScript</a:t>
            </a:r>
            <a:br/>
            <a:r>
              <a:t>Chart.js (圖表渲染)</a:t>
            </a:r>
            <a:br/>
            <a:r>
              <a:t>LocalStorage (Session 管理)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3154680"/>
            <a:ext cx="2560320" cy="1280160"/>
          </a:xfrm>
          <a:prstGeom prst="roundRect">
            <a:avLst/>
          </a:prstGeom>
          <a:solidFill>
            <a:srgbClr val="1B9E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228600"/>
          <a:lstStyle/>
          <a:p>
            <a:pPr algn="ctr">
              <a:defRPr sz="1500" b="1">
                <a:solidFill>
                  <a:srgbClr val="FFFFFF"/>
                </a:solidFill>
                <a:latin typeface="Microsoft JhengHei"/>
              </a:defRPr>
            </a:pPr>
            <a:r>
              <a:t>API 層 (Backend)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448056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B9E4B"/>
                </a:solidFill>
                <a:latin typeface="Microsoft JhengHei"/>
              </a:defRPr>
            </a:pPr>
            <a:r>
              <a:t>▼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14800" y="3154680"/>
            <a:ext cx="6858000" cy="1280160"/>
          </a:xfrm>
          <a:prstGeom prst="round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l">
              <a:defRPr sz="1300" b="0">
                <a:solidFill>
                  <a:srgbClr val="1C1E21"/>
                </a:solidFill>
                <a:latin typeface="Microsoft JhengHei"/>
              </a:defRPr>
            </a:pPr>
            <a:r>
              <a:t>FastAPI (ASGI)</a:t>
            </a:r>
            <a:br/>
            <a:r>
              <a:t>RESTful API 設計</a:t>
            </a:r>
            <a:br/>
            <a:r>
              <a:t>Pydantic 資料驗證</a:t>
            </a:r>
            <a:br/>
            <a:r>
              <a:t>bcrypt 密碼雜湊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4754880"/>
            <a:ext cx="2560320" cy="1280160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228600"/>
          <a:lstStyle/>
          <a:p>
            <a:pPr algn="ctr">
              <a:defRPr sz="1500" b="1">
                <a:solidFill>
                  <a:srgbClr val="FFFFFF"/>
                </a:solidFill>
                <a:latin typeface="Microsoft JhengHei"/>
              </a:defRPr>
            </a:pPr>
            <a:r>
              <a:t>資料層 (Database)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14800" y="4754880"/>
            <a:ext cx="6858000" cy="1280160"/>
          </a:xfrm>
          <a:prstGeom prst="round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l">
              <a:defRPr sz="1300" b="0">
                <a:solidFill>
                  <a:srgbClr val="1C1E21"/>
                </a:solidFill>
                <a:latin typeface="Microsoft JhengHei"/>
              </a:defRPr>
            </a:pPr>
            <a:r>
              <a:t>SQLAlchemy ORM</a:t>
            </a:r>
            <a:br/>
            <a:r>
              <a:t>SQLite (開發環境)</a:t>
            </a:r>
            <a:br/>
            <a:r>
              <a:t>PostgreSQL (生產環境)</a:t>
            </a:r>
            <a:br/>
            <a:r>
              <a:t>yfinance (外部 API)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62179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5676B"/>
                </a:solidFill>
                <a:latin typeface="Microsoft JhengHei"/>
              </a:defRPr>
            </a:pPr>
            <a:r>
              <a:t>專案結構：main.py (API) │ models.py (ORM) │ database.py (DB Config) │ index.html (SPA)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5676B"/>
                </a:solidFill>
                <a:latin typeface="Microsoft JhengHei"/>
              </a:defRPr>
            </a:pPr>
            <a:r>
              <a:t>4/14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73E8"/>
                </a:solidFill>
                <a:latin typeface="Microsoft JhengHei"/>
              </a:defRPr>
            </a:pPr>
            <a:r>
              <a:t>03  資料庫設計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051560"/>
            <a:ext cx="2286000" cy="36576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2606040" cy="411480"/>
          </a:xfrm>
          <a:prstGeom prst="round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l">
              <a:defRPr sz="1300" b="1">
                <a:solidFill>
                  <a:srgbClr val="FFFFFF"/>
                </a:solidFill>
                <a:latin typeface="Microsoft JhengHei"/>
              </a:defRPr>
            </a:pPr>
            <a:r>
              <a:t>Users (使用者)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90195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C1E21"/>
                </a:solidFill>
                <a:latin typeface="Microsoft JhengHei"/>
              </a:defRPr>
            </a:pPr>
            <a:r>
              <a:t>id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7360" y="1901952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5676B"/>
                </a:solidFill>
                <a:latin typeface="Microsoft JhengHei"/>
              </a:defRPr>
            </a:pPr>
            <a:r>
              <a:t>Integer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68880" y="1901952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A73E8"/>
                </a:solidFill>
                <a:latin typeface="Microsoft JhengHei"/>
              </a:defRPr>
            </a:pPr>
            <a:r>
              <a:t>PK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203704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C1E21"/>
                </a:solidFill>
                <a:latin typeface="Microsoft JhengHei"/>
              </a:defRPr>
            </a:pPr>
            <a:r>
              <a:t>username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2203704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5676B"/>
                </a:solidFill>
                <a:latin typeface="Microsoft JhengHei"/>
              </a:defRPr>
            </a:pPr>
            <a:r>
              <a:t>String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68880" y="2203704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A73E8"/>
                </a:solidFill>
                <a:latin typeface="Microsoft JhengHei"/>
              </a:defRPr>
            </a:pPr>
            <a:r>
              <a:t>UNIQUE, INDEX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505456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C1E21"/>
                </a:solidFill>
                <a:latin typeface="Microsoft JhengHei"/>
              </a:defRPr>
            </a:pPr>
            <a:r>
              <a:t>password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7360" y="2505456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5676B"/>
                </a:solidFill>
                <a:latin typeface="Microsoft JhengHei"/>
              </a:defRPr>
            </a:pPr>
            <a:r>
              <a:t>String(500)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68880" y="2505456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A73E8"/>
                </a:solidFill>
                <a:latin typeface="Microsoft JhengHei"/>
              </a:defRPr>
            </a:pPr>
            <a:r>
              <a:t>bcrypt hashed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566160" y="1463040"/>
            <a:ext cx="2606040" cy="411480"/>
          </a:xfrm>
          <a:prstGeom prst="roundRect">
            <a:avLst/>
          </a:prstGeom>
          <a:solidFill>
            <a:srgbClr val="1B9E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l">
              <a:defRPr sz="1300" b="1">
                <a:solidFill>
                  <a:srgbClr val="FFFFFF"/>
                </a:solidFill>
                <a:latin typeface="Microsoft JhengHei"/>
              </a:defRPr>
            </a:pPr>
            <a:r>
              <a:t>TradeRecords (交易)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190195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C1E21"/>
                </a:solidFill>
                <a:latin typeface="Microsoft JhengHei"/>
              </a:defRPr>
            </a:pPr>
            <a:r>
              <a:t>id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1901952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5676B"/>
                </a:solidFill>
                <a:latin typeface="Microsoft JhengHei"/>
              </a:defRPr>
            </a:pPr>
            <a:r>
              <a:t>Integer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3520" y="1901952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A73E8"/>
                </a:solidFill>
                <a:latin typeface="Microsoft JhengHei"/>
              </a:defRPr>
            </a:pPr>
            <a:r>
              <a:t>PK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2203704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C1E21"/>
                </a:solidFill>
                <a:latin typeface="Microsoft JhengHei"/>
              </a:defRPr>
            </a:pPr>
            <a:r>
              <a:t>user_id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2203704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5676B"/>
                </a:solidFill>
                <a:latin typeface="Microsoft JhengHei"/>
              </a:defRPr>
            </a:pPr>
            <a:r>
              <a:t>Integer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03520" y="2203704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A73E8"/>
                </a:solidFill>
                <a:latin typeface="Microsoft JhengHei"/>
              </a:defRPr>
            </a:pPr>
            <a:r>
              <a:t>FK → users.id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2505456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C1E21"/>
                </a:solidFill>
                <a:latin typeface="Microsoft JhengHei"/>
              </a:defRPr>
            </a:pPr>
            <a:r>
              <a:t>stock_symbol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2505456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5676B"/>
                </a:solidFill>
                <a:latin typeface="Microsoft JhengHei"/>
              </a:defRPr>
            </a:pPr>
            <a:r>
              <a:t>String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0" y="280720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C1E21"/>
                </a:solidFill>
                <a:latin typeface="Microsoft JhengHei"/>
              </a:defRPr>
            </a:pPr>
            <a:r>
              <a:t>trade_type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2807208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5676B"/>
                </a:solidFill>
                <a:latin typeface="Microsoft JhengHei"/>
              </a:defRPr>
            </a:pPr>
            <a:r>
              <a:t>Enum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03520" y="2807208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A73E8"/>
                </a:solidFill>
                <a:latin typeface="Microsoft JhengHei"/>
              </a:defRPr>
            </a:pPr>
            <a:r>
              <a:t>BUY / SELL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0" y="31089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C1E21"/>
                </a:solidFill>
                <a:latin typeface="Microsoft JhengHei"/>
              </a:defRPr>
            </a:pPr>
            <a:r>
              <a:t>price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0" y="31089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5676B"/>
                </a:solidFill>
                <a:latin typeface="Microsoft JhengHei"/>
              </a:defRPr>
            </a:pPr>
            <a:r>
              <a:t>Float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0" y="341071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C1E21"/>
                </a:solidFill>
                <a:latin typeface="Microsoft JhengHei"/>
              </a:defRPr>
            </a:pPr>
            <a:r>
              <a:t>quantity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0" y="3410712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5676B"/>
                </a:solidFill>
                <a:latin typeface="Microsoft JhengHei"/>
              </a:defRPr>
            </a:pPr>
            <a:r>
              <a:t>Integer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0" y="3712464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C1E21"/>
                </a:solidFill>
                <a:latin typeface="Microsoft JhengHei"/>
              </a:defRPr>
            </a:pPr>
            <a:r>
              <a:t>trade_date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0" y="3712464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5676B"/>
                </a:solidFill>
                <a:latin typeface="Microsoft JhengHei"/>
              </a:defRPr>
            </a:pPr>
            <a:r>
              <a:t>DateTime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303520" y="3712464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A73E8"/>
                </a:solidFill>
                <a:latin typeface="Microsoft JhengHei"/>
              </a:defRPr>
            </a:pPr>
            <a:r>
              <a:t>UTC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400800" y="1463040"/>
            <a:ext cx="2606040" cy="411480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l">
              <a:defRPr sz="1300" b="1">
                <a:solidFill>
                  <a:srgbClr val="FFFFFF"/>
                </a:solidFill>
                <a:latin typeface="Microsoft JhengHei"/>
              </a:defRPr>
            </a:pPr>
            <a:r>
              <a:t>Posts (文章)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92240" y="190195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C1E21"/>
                </a:solidFill>
                <a:latin typeface="Microsoft JhengHei"/>
              </a:defRPr>
            </a:pPr>
            <a:r>
              <a:t>id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06640" y="1901952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5676B"/>
                </a:solidFill>
                <a:latin typeface="Microsoft JhengHei"/>
              </a:defRPr>
            </a:pPr>
            <a:r>
              <a:t>Integer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138160" y="1901952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A73E8"/>
                </a:solidFill>
                <a:latin typeface="Microsoft JhengHei"/>
              </a:defRPr>
            </a:pPr>
            <a:r>
              <a:t>PK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92240" y="2203704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C1E21"/>
                </a:solidFill>
                <a:latin typeface="Microsoft JhengHei"/>
              </a:defRPr>
            </a:pPr>
            <a:r>
              <a:t>user_id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406640" y="2203704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5676B"/>
                </a:solidFill>
                <a:latin typeface="Microsoft JhengHei"/>
              </a:defRPr>
            </a:pPr>
            <a:r>
              <a:t>Integer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138160" y="2203704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A73E8"/>
                </a:solidFill>
                <a:latin typeface="Microsoft JhengHei"/>
              </a:defRPr>
            </a:pPr>
            <a:r>
              <a:t>FK → users.id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92240" y="2505456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C1E21"/>
                </a:solidFill>
                <a:latin typeface="Microsoft JhengHei"/>
              </a:defRPr>
            </a:pPr>
            <a:r>
              <a:t>title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406640" y="2505456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5676B"/>
                </a:solidFill>
                <a:latin typeface="Microsoft JhengHei"/>
              </a:defRPr>
            </a:pPr>
            <a:r>
              <a:t>String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92240" y="280720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C1E21"/>
                </a:solidFill>
                <a:latin typeface="Microsoft JhengHei"/>
              </a:defRPr>
            </a:pPr>
            <a:r>
              <a:t>content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406640" y="2807208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5676B"/>
                </a:solidFill>
                <a:latin typeface="Microsoft JhengHei"/>
              </a:defRPr>
            </a:pPr>
            <a:r>
              <a:t>String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92240" y="31089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C1E21"/>
                </a:solidFill>
                <a:latin typeface="Microsoft JhengHei"/>
              </a:defRPr>
            </a:pPr>
            <a:r>
              <a:t>created_at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406640" y="31089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5676B"/>
                </a:solidFill>
                <a:latin typeface="Microsoft JhengHei"/>
              </a:defRPr>
            </a:pPr>
            <a:r>
              <a:t>DateTime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138160" y="3108960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A73E8"/>
                </a:solidFill>
                <a:latin typeface="Microsoft JhengHei"/>
              </a:defRPr>
            </a:pPr>
            <a:r>
              <a:t>UTC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9235440" y="1463040"/>
            <a:ext cx="2606040" cy="411480"/>
          </a:xfrm>
          <a:prstGeom prst="roundRect">
            <a:avLst/>
          </a:prstGeom>
          <a:solidFill>
            <a:srgbClr val="FF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l">
              <a:defRPr sz="1300" b="1">
                <a:solidFill>
                  <a:srgbClr val="FFFFFF"/>
                </a:solidFill>
                <a:latin typeface="Microsoft JhengHei"/>
              </a:defRPr>
            </a:pPr>
            <a:r>
              <a:t>Comments (留言)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326880" y="190195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C1E21"/>
                </a:solidFill>
                <a:latin typeface="Microsoft JhengHei"/>
              </a:defRPr>
            </a:pPr>
            <a:r>
              <a:t>id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241280" y="1901952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5676B"/>
                </a:solidFill>
                <a:latin typeface="Microsoft JhengHei"/>
              </a:defRPr>
            </a:pPr>
            <a:r>
              <a:t>Integer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972800" y="1901952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A73E8"/>
                </a:solidFill>
                <a:latin typeface="Microsoft JhengHei"/>
              </a:defRPr>
            </a:pPr>
            <a:r>
              <a:t>PK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326880" y="2203704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C1E21"/>
                </a:solidFill>
                <a:latin typeface="Microsoft JhengHei"/>
              </a:defRPr>
            </a:pPr>
            <a:r>
              <a:t>post_id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241280" y="2203704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5676B"/>
                </a:solidFill>
                <a:latin typeface="Microsoft JhengHei"/>
              </a:defRPr>
            </a:pPr>
            <a:r>
              <a:t>Integer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972800" y="2203704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A73E8"/>
                </a:solidFill>
                <a:latin typeface="Microsoft JhengHei"/>
              </a:defRPr>
            </a:pPr>
            <a:r>
              <a:t>FK → posts.id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326880" y="2505456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C1E21"/>
                </a:solidFill>
                <a:latin typeface="Microsoft JhengHei"/>
              </a:defRPr>
            </a:pPr>
            <a:r>
              <a:t>user_id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241280" y="2505456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5676B"/>
                </a:solidFill>
                <a:latin typeface="Microsoft JhengHei"/>
              </a:defRPr>
            </a:pPr>
            <a:r>
              <a:t>Integer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972800" y="2505456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A73E8"/>
                </a:solidFill>
                <a:latin typeface="Microsoft JhengHei"/>
              </a:defRPr>
            </a:pPr>
            <a:r>
              <a:t>FK → users.id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326880" y="280720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C1E21"/>
                </a:solidFill>
                <a:latin typeface="Microsoft JhengHei"/>
              </a:defRPr>
            </a:pPr>
            <a:r>
              <a:t>content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241280" y="2807208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5676B"/>
                </a:solidFill>
                <a:latin typeface="Microsoft JhengHei"/>
              </a:defRPr>
            </a:pPr>
            <a:r>
              <a:t>String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326880" y="31089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C1E21"/>
                </a:solidFill>
                <a:latin typeface="Microsoft JhengHei"/>
              </a:defRPr>
            </a:pPr>
            <a:r>
              <a:t>created_at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241280" y="31089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5676B"/>
                </a:solidFill>
                <a:latin typeface="Microsoft JhengHei"/>
              </a:defRPr>
            </a:pPr>
            <a:r>
              <a:t>DateTime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972800" y="3108960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A73E8"/>
                </a:solidFill>
                <a:latin typeface="Microsoft JhengHei"/>
              </a:defRPr>
            </a:pPr>
            <a:r>
              <a:t>UTC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5676B"/>
                </a:solidFill>
                <a:latin typeface="Microsoft JhengHei"/>
              </a:defRPr>
            </a:pPr>
            <a:r>
              <a:t>5/14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73E8"/>
                </a:solidFill>
                <a:latin typeface="Microsoft JhengHei"/>
              </a:defRPr>
            </a:pPr>
            <a:r>
              <a:t>04  後端 API 設計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051560"/>
            <a:ext cx="2286000" cy="36576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400" y="1371600"/>
            <a:ext cx="3200400" cy="411480"/>
          </a:xfrm>
          <a:prstGeom prst="round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Microsoft JhengHei"/>
              </a:defRPr>
            </a:pPr>
            <a:r>
              <a:t>端點 (Endpoint)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0" y="1371600"/>
            <a:ext cx="914400" cy="411480"/>
          </a:xfrm>
          <a:prstGeom prst="round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Microsoft JhengHei"/>
              </a:defRPr>
            </a:pPr>
            <a:r>
              <a:t>方法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0" y="1371600"/>
            <a:ext cx="5943600" cy="411480"/>
          </a:xfrm>
          <a:prstGeom prst="round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Microsoft JhengHei"/>
              </a:defRPr>
            </a:pPr>
            <a:r>
              <a:t>功能說明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187452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73E8"/>
                </a:solidFill>
                <a:latin typeface="Microsoft JhengHei"/>
              </a:defRPr>
            </a:pPr>
            <a:r>
              <a:t>/register/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06240" y="1874520"/>
            <a:ext cx="731520" cy="320040"/>
          </a:xfrm>
          <a:prstGeom prst="roundRect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Microsoft JhengHei"/>
              </a:defRPr>
            </a:pPr>
            <a:r>
              <a:t>POST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20640" y="1874520"/>
            <a:ext cx="5943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C1E21"/>
                </a:solidFill>
                <a:latin typeface="Microsoft JhengHei"/>
              </a:defRPr>
            </a:pPr>
            <a:r>
              <a:t>使用者註冊：檢查重複、bcrypt 雜湊密碼、建立帳號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2359152"/>
            <a:ext cx="10515600" cy="50292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2404872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73E8"/>
                </a:solidFill>
                <a:latin typeface="Microsoft JhengHei"/>
              </a:defRPr>
            </a:pPr>
            <a:r>
              <a:t>/login/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06240" y="2404872"/>
            <a:ext cx="731520" cy="320040"/>
          </a:xfrm>
          <a:prstGeom prst="roundRect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Microsoft JhengHei"/>
              </a:defRPr>
            </a:pPr>
            <a:r>
              <a:t>POST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640" y="2404872"/>
            <a:ext cx="5943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C1E21"/>
                </a:solidFill>
                <a:latin typeface="Microsoft JhengHei"/>
              </a:defRPr>
            </a:pPr>
            <a:r>
              <a:t>使用者登入：驗證密碼、回傳 user_id 與 username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2935224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73E8"/>
                </a:solidFill>
                <a:latin typeface="Microsoft JhengHei"/>
              </a:defRPr>
            </a:pPr>
            <a:r>
              <a:t>/trades/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06240" y="2935224"/>
            <a:ext cx="731520" cy="320040"/>
          </a:xfrm>
          <a:prstGeom prst="roundRect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Microsoft JhengHei"/>
              </a:defRPr>
            </a:pPr>
            <a:r>
              <a:t>POST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20640" y="2935224"/>
            <a:ext cx="5943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C1E21"/>
                </a:solidFill>
                <a:latin typeface="Microsoft JhengHei"/>
              </a:defRPr>
            </a:pPr>
            <a:r>
              <a:t>建立交易紀錄：驗證使用者、Enum 轉換、寫入資料庫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" y="3419856"/>
            <a:ext cx="10515600" cy="50292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3465576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73E8"/>
                </a:solidFill>
                <a:latin typeface="Microsoft JhengHei"/>
              </a:defRPr>
            </a:pPr>
            <a:r>
              <a:t>/trades/{user_id}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06240" y="3465576"/>
            <a:ext cx="731520" cy="320040"/>
          </a:xfrm>
          <a:prstGeom prst="roundRect">
            <a:avLst/>
          </a:prstGeom>
          <a:solidFill>
            <a:srgbClr val="1B9E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Microsoft JhengHei"/>
              </a:defRPr>
            </a:pPr>
            <a:r>
              <a:t>GET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0640" y="3465576"/>
            <a:ext cx="5943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C1E21"/>
                </a:solidFill>
                <a:latin typeface="Microsoft JhengHei"/>
              </a:defRPr>
            </a:pPr>
            <a:r>
              <a:t>查詢使用者所有交易紀錄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3995928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73E8"/>
                </a:solidFill>
                <a:latin typeface="Microsoft JhengHei"/>
              </a:defRPr>
            </a:pPr>
            <a:r>
              <a:t>/posts/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06240" y="3995928"/>
            <a:ext cx="731520" cy="320040"/>
          </a:xfrm>
          <a:prstGeom prst="roundRect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Microsoft JhengHei"/>
              </a:defRPr>
            </a:pPr>
            <a:r>
              <a:t>POST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20640" y="3995928"/>
            <a:ext cx="5943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C1E21"/>
                </a:solidFill>
                <a:latin typeface="Microsoft JhengHei"/>
              </a:defRPr>
            </a:pPr>
            <a:r>
              <a:t>建立新文章：驗證使用者、寫入文章資料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2960" y="4480560"/>
            <a:ext cx="10515600" cy="50292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05840" y="452628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73E8"/>
                </a:solidFill>
                <a:latin typeface="Microsoft JhengHei"/>
              </a:defRPr>
            </a:pPr>
            <a:r>
              <a:t>/posts/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206240" y="4526280"/>
            <a:ext cx="731520" cy="320040"/>
          </a:xfrm>
          <a:prstGeom prst="roundRect">
            <a:avLst/>
          </a:prstGeom>
          <a:solidFill>
            <a:srgbClr val="1B9E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Microsoft JhengHei"/>
              </a:defRPr>
            </a:pPr>
            <a:r>
              <a:t>GET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20640" y="4526280"/>
            <a:ext cx="5943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C1E21"/>
                </a:solidFill>
                <a:latin typeface="Microsoft JhengHei"/>
              </a:defRPr>
            </a:pPr>
            <a:r>
              <a:t>取得所有文章（含巢狀留言），依時間倒序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5840" y="5056632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73E8"/>
                </a:solidFill>
                <a:latin typeface="Microsoft JhengHei"/>
              </a:defRPr>
            </a:pPr>
            <a:r>
              <a:t>/comments/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206240" y="5056632"/>
            <a:ext cx="731520" cy="320040"/>
          </a:xfrm>
          <a:prstGeom prst="roundRect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Microsoft JhengHei"/>
              </a:defRPr>
            </a:pPr>
            <a:r>
              <a:t>POST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20640" y="5056632"/>
            <a:ext cx="5943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C1E21"/>
                </a:solidFill>
                <a:latin typeface="Microsoft JhengHei"/>
              </a:defRPr>
            </a:pPr>
            <a:r>
              <a:t>對文章新增留言：驗證使用者與文章存在性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22960" y="5541264"/>
            <a:ext cx="10515600" cy="50292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5840" y="5586984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73E8"/>
                </a:solidFill>
                <a:latin typeface="Microsoft JhengHei"/>
              </a:defRPr>
            </a:pPr>
            <a:r>
              <a:t>/stock/{symbol}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206240" y="5586984"/>
            <a:ext cx="731520" cy="320040"/>
          </a:xfrm>
          <a:prstGeom prst="roundRect">
            <a:avLst/>
          </a:prstGeom>
          <a:solidFill>
            <a:srgbClr val="1B9E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Microsoft JhengHei"/>
              </a:defRPr>
            </a:pPr>
            <a:r>
              <a:t>GET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120640" y="5586984"/>
            <a:ext cx="5943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C1E21"/>
                </a:solidFill>
                <a:latin typeface="Microsoft JhengHei"/>
              </a:defRPr>
            </a:pPr>
            <a:r>
              <a:t>即時股價：透過 yfinance 取得當前價格、高低價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5840" y="6117336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73E8"/>
                </a:solidFill>
                <a:latin typeface="Microsoft JhengHei"/>
              </a:defRPr>
            </a:pPr>
            <a:r>
              <a:t>/stock/{symbol}/history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206240" y="6117336"/>
            <a:ext cx="731520" cy="320040"/>
          </a:xfrm>
          <a:prstGeom prst="roundRect">
            <a:avLst/>
          </a:prstGeom>
          <a:solidFill>
            <a:srgbClr val="1B9E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Microsoft JhengHei"/>
              </a:defRPr>
            </a:pPr>
            <a:r>
              <a:t>GET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120640" y="6117336"/>
            <a:ext cx="5943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C1E21"/>
                </a:solidFill>
                <a:latin typeface="Microsoft JhengHei"/>
              </a:defRPr>
            </a:pPr>
            <a:r>
              <a:t>歷史走勢：支援 1d/5d/1mo/3mo/6mo/1y 區間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5676B"/>
                </a:solidFill>
                <a:latin typeface="Microsoft JhengHei"/>
              </a:defRPr>
            </a:pPr>
            <a:r>
              <a:t>6/14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73E8"/>
                </a:solidFill>
                <a:latin typeface="Microsoft JhengHei"/>
              </a:defRPr>
            </a:pPr>
            <a:r>
              <a:t>05  前端 UI/UX 設計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051560"/>
            <a:ext cx="2286000" cy="36576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3716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C1E21"/>
                </a:solidFill>
                <a:latin typeface="Microsoft JhengHei"/>
              </a:defRPr>
            </a:pPr>
            <a:r>
              <a:t>SPA 架構設計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920240"/>
            <a:ext cx="1371600" cy="365760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A73E8"/>
                </a:solidFill>
                <a:latin typeface="Microsoft JhengHei"/>
              </a:defRPr>
            </a:pPr>
            <a:r>
              <a:t>Topbar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68880" y="192024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C1E21"/>
                </a:solidFill>
                <a:latin typeface="Microsoft JhengHei"/>
              </a:defRPr>
            </a:pPr>
            <a:r>
              <a:t>固定頂部導航列：Logo、搜尋列、使用者資訊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2560320"/>
            <a:ext cx="1371600" cy="365760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A73E8"/>
                </a:solidFill>
                <a:latin typeface="Microsoft JhengHei"/>
              </a:defRPr>
            </a:pPr>
            <a:r>
              <a:t>Sidebar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80" y="256032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C1E21"/>
                </a:solidFill>
                <a:latin typeface="Microsoft JhengHei"/>
              </a:defRPr>
            </a:pPr>
            <a:r>
              <a:t>固定左側選單：功能導航、看板分類、快捷發文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3200400"/>
            <a:ext cx="1371600" cy="365760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A73E8"/>
                </a:solidFill>
                <a:latin typeface="Microsoft JhengHei"/>
              </a:defRPr>
            </a:pPr>
            <a:r>
              <a:t>Main Content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68880" y="32004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C1E21"/>
                </a:solidFill>
                <a:latin typeface="Microsoft JhengHei"/>
              </a:defRPr>
            </a:pPr>
            <a:r>
              <a:t>可切換頁面區域：討論板 / 股票查詢 / 交易 / 個人檔案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3840479"/>
            <a:ext cx="1371600" cy="365760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A73E8"/>
                </a:solidFill>
                <a:latin typeface="Microsoft JhengHei"/>
              </a:defRPr>
            </a:pPr>
            <a:r>
              <a:t>Modal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68880" y="3840479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C1E21"/>
                </a:solidFill>
                <a:latin typeface="Microsoft JhengHei"/>
              </a:defRPr>
            </a:pPr>
            <a:r>
              <a:t>彈出式對話框：發文表單、編輯個人資料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4480560"/>
            <a:ext cx="1371600" cy="365760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A73E8"/>
                </a:solidFill>
                <a:latin typeface="Microsoft JhengHei"/>
              </a:defRPr>
            </a:pPr>
            <a:r>
              <a:t>Auth Overlay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68880" y="448056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C1E21"/>
                </a:solidFill>
                <a:latin typeface="Microsoft JhengHei"/>
              </a:defRPr>
            </a:pPr>
            <a:r>
              <a:t>登入/註冊浮層：Backdrop blur 動畫效果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0" y="1371600"/>
            <a:ext cx="4572000" cy="4389120"/>
          </a:xfrm>
          <a:prstGeom prst="round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182880" wrap="square"/>
          <a:lstStyle/>
          <a:p>
            <a:pPr algn="ctr">
              <a:defRPr sz="1800" b="1">
                <a:solidFill>
                  <a:srgbClr val="1A73E8"/>
                </a:solidFill>
                <a:latin typeface="Microsoft JhengHei"/>
              </a:defRPr>
            </a:pPr>
            <a:r>
              <a:t>UI 設計模式</a:t>
            </a:r>
          </a:p>
          <a:p>
            <a:pPr>
              <a:spcBef>
                <a:spcPts val="800"/>
              </a:spcBef>
              <a:defRPr sz="1300">
                <a:solidFill>
                  <a:srgbClr val="1C1E21"/>
                </a:solidFill>
                <a:latin typeface="Microsoft JhengHei"/>
              </a:defRPr>
            </a:pPr>
            <a:r>
              <a:t>▸ CSS 變數主題系統 (--brand, --bg, --card)</a:t>
            </a:r>
          </a:p>
          <a:p>
            <a:pPr>
              <a:spcBef>
                <a:spcPts val="800"/>
              </a:spcBef>
              <a:defRPr sz="1300">
                <a:solidFill>
                  <a:srgbClr val="1C1E21"/>
                </a:solidFill>
                <a:latin typeface="Microsoft JhengHei"/>
              </a:defRPr>
            </a:pPr>
            <a:r>
              <a:t>▸ CSS 動畫：authIn、spin、toast slide-in</a:t>
            </a:r>
          </a:p>
          <a:p>
            <a:pPr>
              <a:spcBef>
                <a:spcPts val="800"/>
              </a:spcBef>
              <a:defRPr sz="1300">
                <a:solidFill>
                  <a:srgbClr val="1C1E21"/>
                </a:solidFill>
                <a:latin typeface="Microsoft JhengHei"/>
              </a:defRPr>
            </a:pPr>
            <a:r>
              <a:t>▸ Template Literals 動態渲染文章/留言</a:t>
            </a:r>
          </a:p>
          <a:p>
            <a:pPr>
              <a:spcBef>
                <a:spcPts val="800"/>
              </a:spcBef>
              <a:defRPr sz="1300">
                <a:solidFill>
                  <a:srgbClr val="1C1E21"/>
                </a:solidFill>
                <a:latin typeface="Microsoft JhengHei"/>
              </a:defRPr>
            </a:pPr>
            <a:r>
              <a:t>▸ esc() XSS 防護函數</a:t>
            </a:r>
          </a:p>
          <a:p>
            <a:pPr>
              <a:spcBef>
                <a:spcPts val="800"/>
              </a:spcBef>
              <a:defRPr sz="1300">
                <a:solidFill>
                  <a:srgbClr val="1C1E21"/>
                </a:solidFill>
                <a:latin typeface="Microsoft JhengHei"/>
              </a:defRPr>
            </a:pPr>
            <a:r>
              <a:t>▸ Toast 通知系統 (success/error/info)</a:t>
            </a:r>
          </a:p>
          <a:p>
            <a:pPr>
              <a:spcBef>
                <a:spcPts val="800"/>
              </a:spcBef>
              <a:defRPr sz="1300">
                <a:solidFill>
                  <a:srgbClr val="1C1E21"/>
                </a:solidFill>
                <a:latin typeface="Microsoft JhengHei"/>
              </a:defRPr>
            </a:pPr>
            <a:r>
              <a:t>▸ 伺服器喚醒指示器 (Render 冷啟動)</a:t>
            </a:r>
          </a:p>
          <a:p>
            <a:pPr>
              <a:spcBef>
                <a:spcPts val="800"/>
              </a:spcBef>
              <a:defRPr sz="1300">
                <a:solidFill>
                  <a:srgbClr val="1C1E21"/>
                </a:solidFill>
                <a:latin typeface="Microsoft JhengHei"/>
              </a:defRPr>
            </a:pPr>
            <a:r>
              <a:t>▸ RWD 響應式設計 (mobile: sidebar 隱藏)</a:t>
            </a:r>
          </a:p>
          <a:p>
            <a:pPr>
              <a:spcBef>
                <a:spcPts val="800"/>
              </a:spcBef>
              <a:defRPr sz="1300">
                <a:solidFill>
                  <a:srgbClr val="1C1E21"/>
                </a:solidFill>
                <a:latin typeface="Microsoft JhengHei"/>
              </a:defRPr>
            </a:pPr>
            <a:r>
              <a:t>▸ Noto Sans TC 中文字型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60350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5676B"/>
                </a:solidFill>
                <a:latin typeface="Microsoft JhengHei"/>
              </a:defRPr>
            </a:pPr>
            <a:r>
              <a:t>前端模組化：Auth │ Posts │ Stock │ Trades │ Profile │ Board Filter 六大功能模組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5676B"/>
                </a:solidFill>
                <a:latin typeface="Microsoft JhengHei"/>
              </a:defRPr>
            </a:pPr>
            <a:r>
              <a:t>7/14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73E8"/>
                </a:solidFill>
                <a:latin typeface="Microsoft JhengHei"/>
              </a:defRPr>
            </a:pPr>
            <a:r>
              <a:t>06  核心功能展示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051560"/>
            <a:ext cx="2286000" cy="36576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400" y="1463040"/>
            <a:ext cx="4937760" cy="2194560"/>
          </a:xfrm>
          <a:prstGeom prst="round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60120" y="1508760"/>
            <a:ext cx="4846320" cy="502920"/>
          </a:xfrm>
          <a:prstGeom prst="round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91440"/>
          <a:lstStyle/>
          <a:p>
            <a:pPr algn="l">
              <a:defRPr sz="1700" b="1">
                <a:solidFill>
                  <a:srgbClr val="FFFFFF"/>
                </a:solidFill>
                <a:latin typeface="Microsoft JhengHei"/>
              </a:defRPr>
            </a:pPr>
            <a:r>
              <a:t>討論板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194560"/>
            <a:ext cx="43891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1C1E21"/>
                </a:solidFill>
                <a:latin typeface="Microsoft JhengHei"/>
              </a:defRPr>
            </a:pPr>
            <a:r>
              <a:t>發文、留言互動、看板分類篩選（台股/美股/加密貨幣/新手）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463040"/>
            <a:ext cx="4937760" cy="2194560"/>
          </a:xfrm>
          <a:prstGeom prst="round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63640" y="1508760"/>
            <a:ext cx="4846320" cy="502920"/>
          </a:xfrm>
          <a:prstGeom prst="roundRect">
            <a:avLst/>
          </a:prstGeom>
          <a:solidFill>
            <a:srgbClr val="1B9E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91440"/>
          <a:lstStyle/>
          <a:p>
            <a:pPr algn="l">
              <a:defRPr sz="1700" b="1">
                <a:solidFill>
                  <a:srgbClr val="FFFFFF"/>
                </a:solidFill>
                <a:latin typeface="Microsoft JhengHei"/>
              </a:defRPr>
            </a:pPr>
            <a:r>
              <a:t>股票查詢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194560"/>
            <a:ext cx="43891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1C1E21"/>
                </a:solidFill>
                <a:latin typeface="Microsoft JhengHei"/>
              </a:defRPr>
            </a:pPr>
            <a:r>
              <a:t>即時股價、K線圖表、多時間區間切換（5天~1年）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4023360"/>
            <a:ext cx="4937760" cy="2194560"/>
          </a:xfrm>
          <a:prstGeom prst="round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60120" y="4069080"/>
            <a:ext cx="4846320" cy="502920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91440"/>
          <a:lstStyle/>
          <a:p>
            <a:pPr algn="l">
              <a:defRPr sz="1700" b="1">
                <a:solidFill>
                  <a:srgbClr val="FFFFFF"/>
                </a:solidFill>
                <a:latin typeface="Microsoft JhengHei"/>
              </a:defRPr>
            </a:pPr>
            <a:r>
              <a:t>交易紀錄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4754880"/>
            <a:ext cx="43891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1C1E21"/>
                </a:solidFill>
                <a:latin typeface="Microsoft JhengHei"/>
              </a:defRPr>
            </a:pPr>
            <a:r>
              <a:t>買入/賣出記錄、歷史查詢、圖標化顯示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4023360"/>
            <a:ext cx="4937760" cy="2194560"/>
          </a:xfrm>
          <a:prstGeom prst="round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263640" y="4069080"/>
            <a:ext cx="4846320" cy="502920"/>
          </a:xfrm>
          <a:prstGeom prst="roundRect">
            <a:avLst/>
          </a:prstGeom>
          <a:solidFill>
            <a:srgbClr val="FF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91440"/>
          <a:lstStyle/>
          <a:p>
            <a:pPr algn="l">
              <a:defRPr sz="1700" b="1">
                <a:solidFill>
                  <a:srgbClr val="FFFFFF"/>
                </a:solidFill>
                <a:latin typeface="Microsoft JhengHei"/>
              </a:defRPr>
            </a:pPr>
            <a:r>
              <a:t>個人檔案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4754880"/>
            <a:ext cx="43891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1C1E21"/>
                </a:solidFill>
                <a:latin typeface="Microsoft JhengHei"/>
              </a:defRPr>
            </a:pPr>
            <a:r>
              <a:t>文章統計、追蹤功能、個人資料編輯、查看他人檔案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5676B"/>
                </a:solidFill>
                <a:latin typeface="Microsoft JhengHei"/>
              </a:defRPr>
            </a:pPr>
            <a:r>
              <a:t>8/14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73E8"/>
                </a:solidFill>
                <a:latin typeface="Microsoft JhengHei"/>
              </a:defRPr>
            </a:pPr>
            <a:r>
              <a:t>07  技術亮點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051560"/>
            <a:ext cx="2286000" cy="36576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400" y="1463040"/>
            <a:ext cx="457200" cy="457200"/>
          </a:xfrm>
          <a:prstGeom prst="round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Microsoft JhengHei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14630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C1E21"/>
                </a:solidFill>
                <a:latin typeface="Microsoft JhengHei"/>
              </a:defRPr>
            </a:pPr>
            <a:r>
              <a:t>字元級 bcrypt 截斷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182880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5676B"/>
                </a:solidFill>
                <a:latin typeface="Microsoft JhengHei"/>
              </a:defRPr>
            </a:pPr>
            <a:r>
              <a:t>bcrypt 限制 72 bytes，本專案實作了字元層級截斷邏輯，避免中文字被切斷。</a:t>
            </a:r>
            <a:br/>
            <a:r>
              <a:t>一般做法直接截斷 byte 72，會破壞多字元 UTF-8 字元。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2468880"/>
            <a:ext cx="457200" cy="457200"/>
          </a:xfrm>
          <a:prstGeom prst="roundRect">
            <a:avLst/>
          </a:prstGeom>
          <a:solidFill>
            <a:srgbClr val="1B9E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Microsoft JhengHei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24688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C1E21"/>
                </a:solidFill>
                <a:latin typeface="Microsoft JhengHei"/>
              </a:defRPr>
            </a:pPr>
            <a:r>
              <a:t>雙資料庫引擎配置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83464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5676B"/>
                </a:solidFill>
                <a:latin typeface="Microsoft JhengHei"/>
              </a:defRPr>
            </a:pPr>
            <a:r>
              <a:t>database.py 自動偵測 SQLite vs PostgreSQL，配置正確的 engine 參數。</a:t>
            </a:r>
            <a:br/>
            <a:r>
              <a:t>處理 postgres:// 到 postgresql:// 的 URL scheme 轉換（Render 部署需要）。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3474720"/>
            <a:ext cx="457200" cy="457200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Microsoft JhengHei"/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34747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C1E21"/>
                </a:solidFill>
                <a:latin typeface="Microsoft JhengHei"/>
              </a:defRPr>
            </a:pPr>
            <a:r>
              <a:t>取代棄用的 datetime.utcnow()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384048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5676B"/>
                </a:solidFill>
                <a:latin typeface="Microsoft JhengHei"/>
              </a:defRPr>
            </a:pPr>
            <a:r>
              <a:t>models.py 使用 datetime.now(timezone.utc).replace(tzinfo=None) 取代已棄用的 utcnow()，</a:t>
            </a:r>
            <a:br/>
            <a:r>
              <a:t>同時維持 SQLite 的 naive datetime 相容性。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4480560"/>
            <a:ext cx="457200" cy="457200"/>
          </a:xfrm>
          <a:prstGeom prst="roundRect">
            <a:avLst/>
          </a:prstGeom>
          <a:solidFill>
            <a:srgbClr val="FF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Microsoft JhengHei"/>
              </a:defRPr>
            </a:pPr>
            <a: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44805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C1E21"/>
                </a:solidFill>
                <a:latin typeface="Microsoft JhengHei"/>
              </a:defRPr>
            </a:pPr>
            <a:r>
              <a:t>Render 冷啟動處理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484632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5676B"/>
                </a:solidFill>
                <a:latin typeface="Microsoft JhengHei"/>
              </a:defRPr>
            </a:pPr>
            <a:r>
              <a:t>fetchWT() 包裝 fetch 帶 90 秒逾時，4 秒後顯示「伺服器喚醒中」spinner。</a:t>
            </a:r>
            <a:br/>
            <a:r>
              <a:t>解決 Render 免費層級休眠後首次請求延遲的問題。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" y="5486400"/>
            <a:ext cx="457200" cy="457200"/>
          </a:xfrm>
          <a:prstGeom prst="round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Microsoft JhengHei"/>
              </a:defRPr>
            </a:pPr>
            <a: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54864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C1E21"/>
                </a:solidFill>
                <a:latin typeface="Microsoft JhengHei"/>
              </a:defRPr>
            </a:pPr>
            <a:r>
              <a:t>台股代號正規化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54480" y="585216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5676B"/>
                </a:solidFill>
                <a:latin typeface="Microsoft JhengHei"/>
              </a:defRPr>
            </a:pPr>
            <a:r>
              <a:t>normTicker() 自動轉換台股代號：2330 → 2330.TW，TW2330 → 2330.TW。</a:t>
            </a:r>
            <a:br/>
            <a:r>
              <a:t>支援 Yahoo Finance 的 TW 前綴格式與標準 4-5 位數字代號。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5676B"/>
                </a:solidFill>
                <a:latin typeface="Microsoft JhengHei"/>
              </a:defRPr>
            </a:pPr>
            <a:r>
              <a:t>9/14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73E8"/>
                </a:solidFill>
                <a:latin typeface="Microsoft JhengHei"/>
              </a:defRPr>
            </a:pPr>
            <a:r>
              <a:t>08  部署與維運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051560"/>
            <a:ext cx="2286000" cy="36576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400" y="1463040"/>
            <a:ext cx="2377440" cy="2011680"/>
          </a:xfrm>
          <a:prstGeom prst="round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82880" wrap="square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60120" y="1508760"/>
            <a:ext cx="2286000" cy="457200"/>
          </a:xfrm>
          <a:prstGeom prst="round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Microsoft JhengHei"/>
              </a:defRPr>
            </a:pPr>
            <a:r>
              <a:t>本地開發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103120"/>
            <a:ext cx="20116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C1E21"/>
                </a:solidFill>
                <a:latin typeface="Microsoft JhengHei"/>
              </a:defRPr>
            </a:pPr>
            <a:r>
              <a:t>SQLite + uvicorn</a:t>
            </a:r>
            <a:br/>
            <a:r>
              <a:t>localhost:8000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91840" y="22860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A73E8"/>
                </a:solidFill>
                <a:latin typeface="Microsoft JhengHei"/>
              </a:defRPr>
            </a:pPr>
            <a: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0" y="1463040"/>
            <a:ext cx="2377440" cy="2011680"/>
          </a:xfrm>
          <a:prstGeom prst="round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82880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703320" y="1508760"/>
            <a:ext cx="2286000" cy="457200"/>
          </a:xfrm>
          <a:prstGeom prst="roundRect">
            <a:avLst/>
          </a:prstGeom>
          <a:solidFill>
            <a:srgbClr val="1B9E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Microsoft JhengHei"/>
              </a:defRPr>
            </a:pPr>
            <a:r>
              <a:t>版本控制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0" y="2103120"/>
            <a:ext cx="20116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C1E21"/>
                </a:solidFill>
                <a:latin typeface="Microsoft JhengHei"/>
              </a:defRPr>
            </a:pPr>
            <a:r>
              <a:t>Git 提交</a:t>
            </a:r>
            <a:br/>
            <a:r>
              <a:t>. gitignore 排除</a:t>
            </a:r>
            <a:br/>
            <a:r>
              <a:t>.pyc 和 .db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35040" y="22860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B9E4B"/>
                </a:solidFill>
                <a:latin typeface="Microsoft JhengHei"/>
              </a:defRPr>
            </a:pPr>
            <a: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1463040"/>
            <a:ext cx="2377440" cy="2011680"/>
          </a:xfrm>
          <a:prstGeom prst="round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82880" wrap="square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446520" y="1508760"/>
            <a:ext cx="2286000" cy="457200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Microsoft JhengHei"/>
              </a:defRPr>
            </a:pPr>
            <a:r>
              <a:t>雲端部署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2103120"/>
            <a:ext cx="20116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C1E21"/>
                </a:solidFill>
                <a:latin typeface="Microsoft JhengHei"/>
              </a:defRPr>
            </a:pPr>
            <a:r>
              <a:t>Render.com</a:t>
            </a:r>
            <a:br/>
            <a:r>
              <a:t>自動偵測 requirements.txt</a:t>
            </a:r>
            <a:br/>
            <a:r>
              <a:t>PostgreSQL 注入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78240" y="22860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9688"/>
                </a:solidFill>
                <a:latin typeface="Microsoft JhengHei"/>
              </a:defRPr>
            </a:pPr>
            <a: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0" y="1463040"/>
            <a:ext cx="2377440" cy="2011680"/>
          </a:xfrm>
          <a:prstGeom prst="round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82880" wrap="square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189720" y="1508760"/>
            <a:ext cx="2286000" cy="457200"/>
          </a:xfrm>
          <a:prstGeom prst="roundRect">
            <a:avLst/>
          </a:prstGeom>
          <a:solidFill>
            <a:srgbClr val="FF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Microsoft JhengHei"/>
              </a:defRPr>
            </a:pPr>
            <a:r>
              <a:t>前端部署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26880" y="2103120"/>
            <a:ext cx="20116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C1E21"/>
                </a:solidFill>
                <a:latin typeface="Microsoft JhengHei"/>
              </a:defRPr>
            </a:pPr>
            <a:r>
              <a:t>index.html</a:t>
            </a:r>
            <a:br/>
            <a:r>
              <a:t>獨立靜態檔案</a:t>
            </a:r>
            <a:br/>
            <a:r>
              <a:t>CDN 載入 Chart.js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4400" y="3840480"/>
            <a:ext cx="10332720" cy="2560320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182880" wrap="square"/>
          <a:lstStyle/>
          <a:p>
            <a:pPr algn="ctr">
              <a:defRPr sz="1800" b="1">
                <a:solidFill>
                  <a:srgbClr val="1A73E8"/>
                </a:solidFill>
                <a:latin typeface="Microsoft JhengHei"/>
              </a:defRPr>
            </a:pPr>
            <a:r>
              <a:t>部署關鍵設定</a:t>
            </a:r>
          </a:p>
          <a:p>
            <a:pPr>
              <a:spcBef>
                <a:spcPts val="400"/>
              </a:spcBef>
              <a:defRPr sz="1300">
                <a:solidFill>
                  <a:srgbClr val="1C1E21"/>
                </a:solidFill>
                <a:latin typeface="Microsoft JhengHei"/>
              </a:defRPr>
            </a:pPr>
            <a:r>
              <a:t>▸ DATABASE_URL 環境變數：本地預設 SQLite，Render 自動注入 PostgreSQL 連線字串</a:t>
            </a:r>
          </a:p>
          <a:p>
            <a:pPr>
              <a:spcBef>
                <a:spcPts val="400"/>
              </a:spcBef>
              <a:defRPr sz="1300">
                <a:solidFill>
                  <a:srgbClr val="1C1E21"/>
                </a:solidFill>
                <a:latin typeface="Microsoft JhengHei"/>
              </a:defRPr>
            </a:pPr>
            <a:r>
              <a:t>▸ Lifespan 管理：FastAPI 啟動時自動呼叫 create_tables() 建立資料表</a:t>
            </a:r>
          </a:p>
          <a:p>
            <a:pPr>
              <a:spcBef>
                <a:spcPts val="400"/>
              </a:spcBef>
              <a:defRPr sz="1300">
                <a:solidFill>
                  <a:srgbClr val="1C1E21"/>
                </a:solidFill>
                <a:latin typeface="Microsoft JhengHei"/>
              </a:defRPr>
            </a:pPr>
            <a:r>
              <a:t>▸ CORS 設定：allow_origins=["*"] 允許所有來源（開發環境用）</a:t>
            </a:r>
          </a:p>
          <a:p>
            <a:pPr>
              <a:spcBef>
                <a:spcPts val="400"/>
              </a:spcBef>
              <a:defRPr sz="1300">
                <a:solidFill>
                  <a:srgbClr val="1C1E21"/>
                </a:solidFill>
                <a:latin typeface="Microsoft JhengHei"/>
              </a:defRPr>
            </a:pPr>
            <a:r>
              <a:t>▸ requirements.txt 包含：fastapi, uvicorn, sqlalchemy, psycopg2-binary, bcrypt, yfinance, pydantic</a:t>
            </a:r>
          </a:p>
          <a:p>
            <a:pPr>
              <a:spcBef>
                <a:spcPts val="400"/>
              </a:spcBef>
              <a:defRPr sz="1300">
                <a:solidFill>
                  <a:srgbClr val="1C1E21"/>
                </a:solidFill>
                <a:latin typeface="Microsoft JhengHei"/>
              </a:defRPr>
            </a:pPr>
            <a:r>
              <a:t>▸ 啟動命令：uvicorn main:app --host 0.0.0.0 --port 8000</a:t>
            </a:r>
          </a:p>
          <a:p>
            <a:pPr>
              <a:spcBef>
                <a:spcPts val="400"/>
              </a:spcBef>
              <a:defRPr sz="1300">
                <a:solidFill>
                  <a:srgbClr val="1C1E21"/>
                </a:solidFill>
                <a:latin typeface="Microsoft JhengHei"/>
              </a:defRPr>
            </a:pPr>
            <a:r>
              <a:t>▸ 生產環境 URL: https://web-design-67t2.onrender.com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5676B"/>
                </a:solidFill>
                <a:latin typeface="Microsoft JhengHei"/>
              </a:defRPr>
            </a:pPr>
            <a:r>
              <a:t>10/14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73E8"/>
                </a:solidFill>
                <a:latin typeface="Microsoft JhengHei"/>
              </a:defRPr>
            </a:pPr>
            <a:r>
              <a:t>09  安全性分析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051560"/>
            <a:ext cx="2286000" cy="36576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3716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B9E4B"/>
                </a:solidFill>
                <a:latin typeface="Microsoft JhengHei"/>
              </a:defRPr>
            </a:pPr>
            <a:r>
              <a:t>已實作的安全措施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B9E4B"/>
                </a:solidFill>
                <a:latin typeface="Microsoft JhengHei"/>
              </a:defRPr>
            </a:pPr>
            <a: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7360" y="1920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C1E21"/>
                </a:solidFill>
                <a:latin typeface="Microsoft JhengHei"/>
              </a:defRPr>
            </a:pPr>
            <a:r>
              <a:t>bcrypt 密碼雜湊（含 salt），不使用明文儲存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37744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B9E4B"/>
                </a:solidFill>
                <a:latin typeface="Microsoft JhengHei"/>
              </a:defRPr>
            </a:pPr>
            <a: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23774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C1E21"/>
                </a:solidFill>
                <a:latin typeface="Microsoft JhengHei"/>
              </a:defRPr>
            </a:pPr>
            <a:r>
              <a:t>字元層級 bcrypt 截斷，避免中文字元損壞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83464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B9E4B"/>
                </a:solidFill>
                <a:latin typeface="Microsoft JhengHei"/>
              </a:defRPr>
            </a:pPr>
            <a: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28346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C1E21"/>
                </a:solidFill>
                <a:latin typeface="Microsoft JhengHei"/>
              </a:defRPr>
            </a:pPr>
            <a:r>
              <a:t>esc() XSS 防護函數，過濾 &amp;, &lt;, &gt;, ", '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29184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B9E4B"/>
                </a:solidFill>
                <a:latin typeface="Microsoft JhengHei"/>
              </a:defRPr>
            </a:pPr>
            <a: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7360" y="32918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C1E21"/>
                </a:solidFill>
                <a:latin typeface="Microsoft JhengHei"/>
              </a:defRPr>
            </a:pPr>
            <a:r>
              <a:t>SQLAlchemy ORM 防護 SQL Injection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3749039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B9E4B"/>
                </a:solidFill>
                <a:latin typeface="Microsoft JhengHei"/>
              </a:defRPr>
            </a:pPr>
            <a: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37360" y="3749039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C1E21"/>
                </a:solidFill>
                <a:latin typeface="Microsoft JhengHei"/>
              </a:defRPr>
            </a:pPr>
            <a:r>
              <a:t>HTTPException 統一錯誤處理 + db.rollback()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420624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B9E4B"/>
                </a:solidFill>
                <a:latin typeface="Microsoft JhengHei"/>
              </a:defRPr>
            </a:pPr>
            <a: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37360" y="4206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C1E21"/>
                </a:solidFill>
                <a:latin typeface="Microsoft JhengHei"/>
              </a:defRPr>
            </a:pPr>
            <a:r>
              <a:t>Pydantic 輸入資料驗證（型別檢查）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13716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53935"/>
                </a:solidFill>
                <a:latin typeface="Microsoft JhengHei"/>
              </a:defRPr>
            </a:pPr>
            <a:r>
              <a:t>可改進項目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192024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53935"/>
                </a:solidFill>
                <a:latin typeface="Microsoft JhengHei"/>
              </a:defRPr>
            </a:pPr>
            <a:r>
              <a:t>△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23760" y="1920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C1E21"/>
                </a:solidFill>
                <a:latin typeface="Microsoft JhengHei"/>
              </a:defRPr>
            </a:pPr>
            <a:r>
              <a:t>缺少 JWT/Token 認證機制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237744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53935"/>
                </a:solidFill>
                <a:latin typeface="Microsoft JhengHei"/>
              </a:defRPr>
            </a:pPr>
            <a:r>
              <a:t>△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23760" y="23774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C1E21"/>
                </a:solidFill>
                <a:latin typeface="Microsoft JhengHei"/>
              </a:defRPr>
            </a:pPr>
            <a:r>
              <a:t>API 信任前端傳送的 user_id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283464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53935"/>
                </a:solidFill>
                <a:latin typeface="Microsoft JhengHei"/>
              </a:defRPr>
            </a:pPr>
            <a:r>
              <a:t>△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28346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C1E21"/>
                </a:solidFill>
                <a:latin typeface="Microsoft JhengHei"/>
              </a:defRPr>
            </a:pPr>
            <a:r>
              <a:t>CORS allow_origins=["*"] 過於寬鬆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329184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53935"/>
                </a:solidFill>
                <a:latin typeface="Microsoft JhengHei"/>
              </a:defRPr>
            </a:pPr>
            <a:r>
              <a:t>△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23760" y="32918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C1E21"/>
                </a:solidFill>
                <a:latin typeface="Microsoft JhengHei"/>
              </a:defRPr>
            </a:pPr>
            <a:r>
              <a:t>無速率限制 (Rate Limiting)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3749039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53935"/>
                </a:solidFill>
                <a:latin typeface="Microsoft JhengHei"/>
              </a:defRPr>
            </a:pPr>
            <a:r>
              <a:t>△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23760" y="3749039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C1E21"/>
                </a:solidFill>
                <a:latin typeface="Microsoft JhengHei"/>
              </a:defRPr>
            </a:pPr>
            <a:r>
              <a:t>個人資料 (bio/following) 存在 localStorage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0" y="420624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53935"/>
                </a:solidFill>
                <a:latin typeface="Microsoft JhengHei"/>
              </a:defRPr>
            </a:pPr>
            <a:r>
              <a:t>△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23760" y="4206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C1E21"/>
                </a:solidFill>
                <a:latin typeface="Microsoft JhengHei"/>
              </a:defRPr>
            </a:pPr>
            <a:r>
              <a:t>無 CSRF Token 防護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14400" y="4846320"/>
            <a:ext cx="10332720" cy="1463040"/>
          </a:xfrm>
          <a:prstGeom prst="round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137160" wrap="square"/>
          <a:lstStyle/>
          <a:p>
            <a:pPr algn="ctr">
              <a:defRPr sz="1700" b="1">
                <a:solidFill>
                  <a:srgbClr val="E65100"/>
                </a:solidFill>
                <a:latin typeface="Microsoft JhengHei"/>
              </a:defRPr>
            </a:pPr>
            <a:r>
              <a:t>建議改進方向</a:t>
            </a:r>
          </a:p>
          <a:p>
            <a:pPr>
              <a:spcBef>
                <a:spcPts val="300"/>
              </a:spcBef>
              <a:defRPr sz="1300">
                <a:solidFill>
                  <a:srgbClr val="1C1E21"/>
                </a:solidFill>
                <a:latin typeface="Microsoft JhengHei"/>
              </a:defRPr>
            </a:pPr>
            <a:r>
              <a:t>▸ 導入 JWT 驗證：login 後回發 access token，後續 API 從 Header 驗證</a:t>
            </a:r>
          </a:p>
          <a:p>
            <a:pPr>
              <a:spcBef>
                <a:spcPts val="300"/>
              </a:spcBef>
              <a:defRPr sz="1300">
                <a:solidFill>
                  <a:srgbClr val="1C1E21"/>
                </a:solidFill>
                <a:latin typeface="Microsoft JhengHei"/>
              </a:defRPr>
            </a:pPr>
            <a:r>
              <a:t>▸ 限制 CORS：設定 allow_origins 為特定網域</a:t>
            </a:r>
          </a:p>
          <a:p>
            <a:pPr>
              <a:spcBef>
                <a:spcPts val="300"/>
              </a:spcBef>
              <a:defRPr sz="1300">
                <a:solidFill>
                  <a:srgbClr val="1C1E21"/>
                </a:solidFill>
                <a:latin typeface="Microsoft JhengHei"/>
              </a:defRPr>
            </a:pPr>
            <a:r>
              <a:t>▸ 加入 Rate Limiting：使用 slowapi 防止暴力攻擊</a:t>
            </a:r>
          </a:p>
          <a:p>
            <a:pPr>
              <a:spcBef>
                <a:spcPts val="300"/>
              </a:spcBef>
              <a:defRPr sz="1300">
                <a:solidFill>
                  <a:srgbClr val="1C1E21"/>
                </a:solidFill>
                <a:latin typeface="Microsoft JhengHei"/>
              </a:defRPr>
            </a:pPr>
            <a:r>
              <a:t>▸ 個人資料遷移至後端：bio/following 存入資料庫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5676B"/>
                </a:solidFill>
                <a:latin typeface="Microsoft JhengHei"/>
              </a:defRPr>
            </a:pPr>
            <a:r>
              <a:t>11/14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73E8"/>
                </a:solidFill>
                <a:latin typeface="Microsoft JhengHei"/>
              </a:defRPr>
            </a:pPr>
            <a:r>
              <a:t>10  遇到的挑戰與解法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051560"/>
            <a:ext cx="2286000" cy="36576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400" y="1463040"/>
            <a:ext cx="4937760" cy="2286000"/>
          </a:xfrm>
          <a:prstGeom prst="round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60120" y="1508760"/>
            <a:ext cx="4846320" cy="411480"/>
          </a:xfrm>
          <a:prstGeom prst="round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Microsoft JhengHei"/>
              </a:defRPr>
            </a:pPr>
            <a:r>
              <a:t>Render 免費層冷啟動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01168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53935"/>
                </a:solidFill>
                <a:latin typeface="Microsoft JhengHei"/>
              </a:defRPr>
            </a:pPr>
            <a:r>
              <a:t>問題：Render 免費層休眠後首次請求需 30-50 秒，使用者看到逾時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743200"/>
            <a:ext cx="4572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B9E4B"/>
                </a:solidFill>
                <a:latin typeface="Microsoft JhengHei"/>
              </a:defRPr>
            </a:pPr>
            <a:r>
              <a:t>解法：fetchWT() 實作 90 秒逾時 + 4 秒後顯示「喚醒中」spinner，提供明確回饋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463040"/>
            <a:ext cx="4937760" cy="2286000"/>
          </a:xfrm>
          <a:prstGeom prst="round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1508760"/>
            <a:ext cx="4846320" cy="411480"/>
          </a:xfrm>
          <a:prstGeom prst="roundRect">
            <a:avLst/>
          </a:prstGeom>
          <a:solidFill>
            <a:srgbClr val="1B9E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Microsoft JhengHei"/>
              </a:defRPr>
            </a:pPr>
            <a:r>
              <a:t>bcrypt 中文字元處理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01168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53935"/>
                </a:solidFill>
                <a:latin typeface="Microsoft JhengHei"/>
              </a:defRPr>
            </a:pPr>
            <a:r>
              <a:t>問題：密碼超過 72 bytes 需截斷，但中文字元是 3 bytes，直接截斷會損壞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743200"/>
            <a:ext cx="4572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B9E4B"/>
                </a:solidFill>
                <a:latin typeface="Microsoft JhengHei"/>
              </a:defRPr>
            </a:pPr>
            <a:r>
              <a:t>解法：實作 _trim_password() 以字元為單位遍歷，確保在完整字元邊界處截斷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4023360"/>
            <a:ext cx="4937760" cy="2286000"/>
          </a:xfrm>
          <a:prstGeom prst="round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60120" y="4069080"/>
            <a:ext cx="4846320" cy="411480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Microsoft JhengHei"/>
              </a:defRPr>
            </a:pPr>
            <a:r>
              <a:t>資料庫跨平台相容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457200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53935"/>
                </a:solidFill>
                <a:latin typeface="Microsoft JhengHei"/>
              </a:defRPr>
            </a:pPr>
            <a:r>
              <a:t>問題：SQLite 需要 check_same_thread=False，PostgreSQL 不需要且 URL 格式不同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5303520"/>
            <a:ext cx="4572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B9E4B"/>
                </a:solidFill>
                <a:latin typeface="Microsoft JhengHei"/>
              </a:defRPr>
            </a:pPr>
            <a:r>
              <a:t>解法：database.py 自動偵測 URL prefix，動態配置 engine 參數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4023360"/>
            <a:ext cx="4937760" cy="2286000"/>
          </a:xfrm>
          <a:prstGeom prst="round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263640" y="4069080"/>
            <a:ext cx="4846320" cy="411480"/>
          </a:xfrm>
          <a:prstGeom prst="roundRect">
            <a:avLst/>
          </a:prstGeom>
          <a:solidFill>
            <a:srgbClr val="FF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Microsoft JhengHei"/>
              </a:defRPr>
            </a:pPr>
            <a:r>
              <a:t>台股代號轉換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457200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53935"/>
                </a:solidFill>
                <a:latin typeface="Microsoft JhengHei"/>
              </a:defRPr>
            </a:pPr>
            <a:r>
              <a:t>問題：Yahoo Finance 台股需加 .TW 後綴，但使用者習慣輸入純數字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5303520"/>
            <a:ext cx="4572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B9E4B"/>
                </a:solidFill>
                <a:latin typeface="Microsoft JhengHei"/>
              </a:defRPr>
            </a:pPr>
            <a:r>
              <a:t>解法：normTicker() 正規化函數，自動補齊/移除 TW 前綴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5676B"/>
                </a:solidFill>
                <a:latin typeface="Microsoft JhengHei"/>
              </a:defRPr>
            </a:pPr>
            <a:r>
              <a:t>12/14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73E8"/>
                </a:solidFill>
                <a:latin typeface="Microsoft JhengHei"/>
              </a:defRPr>
            </a:pPr>
            <a:r>
              <a:t>11  未來改進方向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051560"/>
            <a:ext cx="2286000" cy="36576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400" y="1463040"/>
            <a:ext cx="3291840" cy="457200"/>
          </a:xfrm>
          <a:prstGeom prst="round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FFFFF"/>
                </a:solidFill>
                <a:latin typeface="Microsoft JhengHei"/>
              </a:defRPr>
            </a:pPr>
            <a:r>
              <a:t>安全性強化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205740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73E8"/>
                </a:solidFill>
                <a:latin typeface="Microsoft JhengHei"/>
              </a:defRPr>
            </a:pPr>
            <a:r>
              <a:t>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205740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C1E21"/>
                </a:solidFill>
                <a:latin typeface="Microsoft JhengHei"/>
              </a:defRPr>
            </a:pPr>
            <a:r>
              <a:t>JWT Token 認證機制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2441448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73E8"/>
                </a:solidFill>
                <a:latin typeface="Microsoft JhengHei"/>
              </a:defRPr>
            </a:pPr>
            <a:r>
              <a:t>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244144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C1E21"/>
                </a:solidFill>
                <a:latin typeface="Microsoft JhengHei"/>
              </a:defRPr>
            </a:pPr>
            <a:r>
              <a:t>CORS 網域限制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2825496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73E8"/>
                </a:solidFill>
                <a:latin typeface="Microsoft JhengHei"/>
              </a:defRPr>
            </a:pPr>
            <a:r>
              <a:t>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2825496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C1E21"/>
                </a:solidFill>
                <a:latin typeface="Microsoft JhengHei"/>
              </a:defRPr>
            </a:pPr>
            <a:r>
              <a:t>Rate Limiting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3209544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73E8"/>
                </a:solidFill>
                <a:latin typeface="Microsoft JhengHei"/>
              </a:defRPr>
            </a:pPr>
            <a:r>
              <a:t>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209544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C1E21"/>
                </a:solidFill>
                <a:latin typeface="Microsoft JhengHei"/>
              </a:defRPr>
            </a:pPr>
            <a:r>
              <a:t>CSRF Token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80560" y="1463040"/>
            <a:ext cx="3291840" cy="457200"/>
          </a:xfrm>
          <a:prstGeom prst="roundRect">
            <a:avLst/>
          </a:prstGeom>
          <a:solidFill>
            <a:srgbClr val="1B9E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FFFFF"/>
                </a:solidFill>
                <a:latin typeface="Microsoft JhengHei"/>
              </a:defRPr>
            </a:pPr>
            <a:r>
              <a:t>功能擴充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0" y="205740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B9E4B"/>
                </a:solidFill>
                <a:latin typeface="Microsoft JhengHei"/>
              </a:defRPr>
            </a:pPr>
            <a:r>
              <a:t>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0" y="205740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C1E21"/>
                </a:solidFill>
                <a:latin typeface="Microsoft JhengHei"/>
              </a:defRPr>
            </a:pPr>
            <a:r>
              <a:t>文章按讚/收藏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80" y="2441448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B9E4B"/>
                </a:solidFill>
                <a:latin typeface="Microsoft JhengHei"/>
              </a:defRPr>
            </a:pPr>
            <a:r>
              <a:t>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0" y="244144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C1E21"/>
                </a:solidFill>
                <a:latin typeface="Microsoft JhengHei"/>
              </a:defRPr>
            </a:pPr>
            <a:r>
              <a:t>即時通知系統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54880" y="2825496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B9E4B"/>
                </a:solidFill>
                <a:latin typeface="Microsoft JhengHei"/>
              </a:defRPr>
            </a:pPr>
            <a:r>
              <a:t>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0" y="2825496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C1E21"/>
                </a:solidFill>
                <a:latin typeface="Microsoft JhengHei"/>
              </a:defRPr>
            </a:pPr>
            <a:r>
              <a:t>投资组合分析儀表板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54880" y="3209544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B9E4B"/>
                </a:solidFill>
                <a:latin typeface="Microsoft JhengHei"/>
              </a:defRPr>
            </a:pPr>
            <a:r>
              <a:t>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0" y="3209544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C1E21"/>
                </a:solidFill>
                <a:latin typeface="Microsoft JhengHei"/>
              </a:defRPr>
            </a:pPr>
            <a:r>
              <a:t>搜尋功能強化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46720" y="1463040"/>
            <a:ext cx="3291840" cy="457200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FFFFF"/>
                </a:solidFill>
                <a:latin typeface="Microsoft JhengHei"/>
              </a:defRPr>
            </a:pPr>
            <a:r>
              <a:t>使用者體驗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21040" y="205740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9688"/>
                </a:solidFill>
                <a:latin typeface="Microsoft JhengHei"/>
              </a:defRPr>
            </a:pPr>
            <a:r>
              <a:t>●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95360" y="205740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C1E21"/>
                </a:solidFill>
                <a:latin typeface="Microsoft JhengHei"/>
              </a:defRPr>
            </a:pPr>
            <a:r>
              <a:t>深色模式 (Dark Mode)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1040" y="2441448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9688"/>
                </a:solidFill>
                <a:latin typeface="Microsoft JhengHei"/>
              </a:defRPr>
            </a:pPr>
            <a:r>
              <a:t>●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95360" y="244144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C1E21"/>
                </a:solidFill>
                <a:latin typeface="Microsoft JhengHei"/>
              </a:defRPr>
            </a:pPr>
            <a:r>
              <a:t>RWD 行動版優化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21040" y="2825496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9688"/>
                </a:solidFill>
                <a:latin typeface="Microsoft JhengHei"/>
              </a:defRPr>
            </a:pPr>
            <a:r>
              <a:t>●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95360" y="2825496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C1E21"/>
                </a:solidFill>
                <a:latin typeface="Microsoft JhengHei"/>
              </a:defRPr>
            </a:pPr>
            <a:r>
              <a:t>圖片上傳支援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21040" y="3209544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9688"/>
                </a:solidFill>
                <a:latin typeface="Microsoft JhengHei"/>
              </a:defRPr>
            </a:pPr>
            <a:r>
              <a:t>●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95360" y="3209544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C1E21"/>
                </a:solidFill>
                <a:latin typeface="Microsoft JhengHei"/>
              </a:defRPr>
            </a:pPr>
            <a:r>
              <a:t>Markdown 編輯器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14400" y="4206240"/>
            <a:ext cx="3291840" cy="457200"/>
          </a:xfrm>
          <a:prstGeom prst="roundRect">
            <a:avLst/>
          </a:prstGeom>
          <a:solidFill>
            <a:srgbClr val="FF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FFFFF"/>
                </a:solidFill>
                <a:latin typeface="Microsoft JhengHei"/>
              </a:defRPr>
            </a:pPr>
            <a:r>
              <a:t>效能優化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88720" y="480060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A000"/>
                </a:solidFill>
                <a:latin typeface="Microsoft JhengHei"/>
              </a:defRPr>
            </a:pPr>
            <a:r>
              <a:t>●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463040" y="480060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C1E21"/>
                </a:solidFill>
                <a:latin typeface="Microsoft JhengHei"/>
              </a:defRPr>
            </a:pPr>
            <a:r>
              <a:t>資料庫查詢快取 (Redis)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88720" y="5184648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A000"/>
                </a:solidFill>
                <a:latin typeface="Microsoft JhengHei"/>
              </a:defRPr>
            </a:pPr>
            <a:r>
              <a:t>●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463040" y="518464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C1E21"/>
                </a:solidFill>
                <a:latin typeface="Microsoft JhengHei"/>
              </a:defRPr>
            </a:pPr>
            <a:r>
              <a:t>分頁載入 (Pagination)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88720" y="5568696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A000"/>
                </a:solidFill>
                <a:latin typeface="Microsoft JhengHei"/>
              </a:defRPr>
            </a:pPr>
            <a:r>
              <a:t>●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463040" y="5568696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C1E21"/>
                </a:solidFill>
                <a:latin typeface="Microsoft JhengHei"/>
              </a:defRPr>
            </a:pPr>
            <a:r>
              <a:t>WebSocket 即時更新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88720" y="5952744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A000"/>
                </a:solidFill>
                <a:latin typeface="Microsoft JhengHei"/>
              </a:defRPr>
            </a:pPr>
            <a:r>
              <a:t>●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463040" y="5952744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C1E21"/>
                </a:solidFill>
                <a:latin typeface="Microsoft JhengHei"/>
              </a:defRPr>
            </a:pPr>
            <a:r>
              <a:t>CDN 靜態資源加速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480560" y="4206240"/>
            <a:ext cx="3291840" cy="457200"/>
          </a:xfrm>
          <a:prstGeom prst="round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FFFFF"/>
                </a:solidFill>
                <a:latin typeface="Microsoft JhengHei"/>
              </a:defRPr>
            </a:pPr>
            <a:r>
              <a:t>資料層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754880" y="480060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53935"/>
                </a:solidFill>
                <a:latin typeface="Microsoft JhengHei"/>
              </a:defRPr>
            </a:pPr>
            <a:r>
              <a:t>●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029200" y="480060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C1E21"/>
                </a:solidFill>
                <a:latin typeface="Microsoft JhengHei"/>
              </a:defRPr>
            </a:pPr>
            <a:r>
              <a:t>個人檔案後端化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754880" y="5184648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53935"/>
                </a:solidFill>
                <a:latin typeface="Microsoft JhengHei"/>
              </a:defRPr>
            </a:pPr>
            <a:r>
              <a:t>●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029200" y="518464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C1E21"/>
                </a:solidFill>
                <a:latin typeface="Microsoft JhengHei"/>
              </a:defRPr>
            </a:pPr>
            <a:r>
              <a:t>文章分類標籤系統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754880" y="5568696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53935"/>
                </a:solidFill>
                <a:latin typeface="Microsoft JhengHei"/>
              </a:defRPr>
            </a:pPr>
            <a:r>
              <a:t>●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029200" y="5568696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C1E21"/>
                </a:solidFill>
                <a:latin typeface="Microsoft JhengHei"/>
              </a:defRPr>
            </a:pPr>
            <a:r>
              <a:t>交易統計圖表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754880" y="5952744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53935"/>
                </a:solidFill>
                <a:latin typeface="Microsoft JhengHei"/>
              </a:defRPr>
            </a:pPr>
            <a:r>
              <a:t>●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029200" y="5952744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C1E21"/>
                </a:solidFill>
                <a:latin typeface="Microsoft JhengHei"/>
              </a:defRPr>
            </a:pPr>
            <a:r>
              <a:t>匯出交易紀錄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5676B"/>
                </a:solidFill>
                <a:latin typeface="Microsoft JhengHei"/>
              </a:defRPr>
            </a:pPr>
            <a:r>
              <a:t>13/14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73152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A73E8"/>
                </a:solidFill>
                <a:latin typeface="Microsoft JhengHei"/>
              </a:defRPr>
            </a:pPr>
            <a:r>
              <a:t>總結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417320"/>
            <a:ext cx="2743200" cy="36576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400" y="1828800"/>
            <a:ext cx="411480" cy="411480"/>
          </a:xfrm>
          <a:prstGeom prst="round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Microsoft JhengHei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18745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C1E21"/>
                </a:solidFill>
                <a:latin typeface="Microsoft JhengHei"/>
              </a:defRPr>
            </a:pPr>
            <a:r>
              <a:t>完成了一個全端股票交易論壇，整合社群、查詢、交易三大核心功能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377440"/>
            <a:ext cx="411480" cy="411480"/>
          </a:xfrm>
          <a:prstGeom prst="round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Microsoft JhengHei"/>
              </a:defRPr>
            </a:pPr>
            <a: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24231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C1E21"/>
                </a:solidFill>
                <a:latin typeface="Microsoft JhengHei"/>
              </a:defRPr>
            </a:pPr>
            <a:r>
              <a:t>實踐了 FastAPI + SQLAlchemy ORM + Vanilla JS 的現代化技術堆疊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2926080"/>
            <a:ext cx="411480" cy="411480"/>
          </a:xfrm>
          <a:prstGeom prst="round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Microsoft JhengHei"/>
              </a:defRPr>
            </a:pPr>
            <a: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971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C1E21"/>
                </a:solidFill>
                <a:latin typeface="Microsoft JhengHei"/>
              </a:defRPr>
            </a:pPr>
            <a:r>
              <a:t>成功部署至 Render.com，實現本地開發與生產環境的無縫切換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3474720"/>
            <a:ext cx="411480" cy="411480"/>
          </a:xfrm>
          <a:prstGeom prst="round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Microsoft JhengHei"/>
              </a:defRPr>
            </a:pPr>
            <a: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35204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C1E21"/>
                </a:solidFill>
                <a:latin typeface="Microsoft JhengHei"/>
              </a:defRPr>
            </a:pPr>
            <a:r>
              <a:t>深入理解了 RESTful API 設計、資料庫關聯、前後端分離架構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4023360"/>
            <a:ext cx="411480" cy="411480"/>
          </a:xfrm>
          <a:prstGeom prst="round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Microsoft JhengHei"/>
              </a:defRPr>
            </a:pPr>
            <a: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40690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C1E21"/>
                </a:solidFill>
                <a:latin typeface="Microsoft JhengHei"/>
              </a:defRPr>
            </a:pPr>
            <a:r>
              <a:t>學會處理實際部署挑戰：冷啟動、跨資料庫相容、字元編碼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00400" y="4754880"/>
            <a:ext cx="5760720" cy="1371600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137160" wrap="square"/>
          <a:lstStyle/>
          <a:p>
            <a:pPr algn="ctr">
              <a:defRPr sz="2800" b="1">
                <a:solidFill>
                  <a:srgbClr val="1A73E8"/>
                </a:solidFill>
                <a:latin typeface="Microsoft JhengHei"/>
              </a:defRPr>
            </a:pPr>
            <a:r>
              <a:t>感謝聆聽</a:t>
            </a:r>
          </a:p>
          <a:p>
            <a:pPr algn="ctr">
              <a:spcBef>
                <a:spcPts val="800"/>
              </a:spcBef>
              <a:defRPr sz="1400">
                <a:solidFill>
                  <a:srgbClr val="65676B"/>
                </a:solidFill>
                <a:latin typeface="Microsoft JhengHei"/>
              </a:defRPr>
            </a:pPr>
            <a:r>
              <a:t>StockBoard 股票交易論壇 專案報告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5676B"/>
                </a:solidFill>
                <a:latin typeface="Microsoft JhengHei"/>
              </a:defRPr>
            </a:pPr>
            <a:r>
              <a:t>14/14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